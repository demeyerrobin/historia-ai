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2 - The Storming of the Bastille: Triggering the Revolution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in Crisis: 1789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Crisis</a:t>
            </a:r>
          </a:p>
          <a:p>
            <a:pPr/>
            <a:r>
              <a:t>Excessive Spending</a:t>
            </a:r>
          </a:p>
          <a:p>
            <a:pPr/>
            <a:r>
              <a:t>Inefficient Tax Systems</a:t>
            </a:r>
          </a:p>
          <a:p>
            <a:pPr/>
            <a:r>
              <a:t>War Loans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Three Estates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Estate: Clergy</a:t>
            </a:r>
          </a:p>
          <a:p>
            <a:pPr/>
            <a:r>
              <a:t>Second Estate: Nobility</a:t>
            </a:r>
          </a:p>
          <a:p>
            <a:pPr/>
            <a:r>
              <a:t>Third Estate: Commoners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Enlightenment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Rights</a:t>
            </a:r>
          </a:p>
          <a:p>
            <a:pPr/>
            <a:r>
              <a:t>Popular Sovereignty</a:t>
            </a:r>
          </a:p>
          <a:p>
            <a:pPr/>
            <a:r>
              <a:t>Thinkers: Rousseau, Montesquieu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Political Instability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Stagnant System</a:t>
            </a:r>
          </a:p>
          <a:p>
            <a:pPr/>
            <a:r>
              <a:t>Ineffective Leadership</a:t>
            </a:r>
          </a:p>
          <a:p>
            <a:pPr/>
            <a:r>
              <a:t>Louis XVI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Bastille: Symbol of Oppression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Medieval Fortress</a:t>
            </a:r>
          </a:p>
          <a:p>
            <a:pPr/>
            <a:r>
              <a:t>Royal Authority</a:t>
            </a:r>
          </a:p>
          <a:p>
            <a:pPr/>
            <a:r>
              <a:t>Imprisonment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June 1789: The Storming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Popular Mobilization</a:t>
            </a:r>
          </a:p>
          <a:p>
            <a:pPr/>
            <a:r>
              <a:t>Hunger and Hardship</a:t>
            </a:r>
          </a:p>
          <a:p>
            <a:pPr/>
            <a:r>
              <a:t>Symbol of Oppression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Point</a:t>
            </a:r>
          </a:p>
          <a:p>
            <a:pPr/>
            <a:r>
              <a:t>Popular Rage</a:t>
            </a:r>
          </a:p>
          <a:p>
            <a:pPr/>
            <a:r>
              <a:t>Demand for Change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National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to Address Grievances</a:t>
            </a:r>
          </a:p>
          <a:p>
            <a:pPr/>
            <a:r>
              <a:t>Initiate Constitutional Reform</a:t>
            </a:r>
          </a:p>
          <a:p>
            <a:pPr/>
            <a:r>
              <a:t>Meeting of the Third Estate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Reign of Terror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Radical Jacobins</a:t>
            </a:r>
          </a:p>
          <a:p>
            <a:pPr/>
            <a:r>
              <a:t>Robespierre</a:t>
            </a:r>
          </a:p>
          <a:p>
            <a:pPr/>
            <a:r>
              <a:t>Suppression of Dissent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Figures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Louis XVI</a:t>
            </a:r>
          </a:p>
          <a:p>
            <a:pPr/>
            <a:r>
              <a:t>Marie Antoinette</a:t>
            </a:r>
          </a:p>
          <a:p>
            <a:pPr/>
            <a:r>
              <a:t>Camille Desmoulins</a:t>
            </a:r>
          </a:p>
          <a:p>
            <a:pPr/>
            <a:r>
              <a:t>Jean-Paul Marat</a:t>
            </a:r>
          </a:p>
          <a:p>
            <a:pPr/>
            <a:r>
              <a:t>Georges Danton</a:t>
            </a:r>
          </a:p>
          <a:p>
            <a:pPr/>
            <a:r>
              <a:t>Maximilien Robespierre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Crisis</a:t>
            </a:r>
          </a:p>
          <a:p>
            <a:pPr/>
            <a:r>
              <a:t>Social Inequality</a:t>
            </a:r>
          </a:p>
          <a:p>
            <a:pPr/>
            <a:r>
              <a:t>Enlightenment Ideas</a:t>
            </a:r>
          </a:p>
          <a:p>
            <a:pPr/>
            <a:r>
              <a:t>Storming of the Bastille</a:t>
            </a:r>
          </a:p>
          <a:p>
            <a:pPr/>
            <a:r>
              <a:t>National Assembly</a:t>
            </a:r>
          </a:p>
          <a:p>
            <a:pPr/>
            <a:r>
              <a:t>Reign of Terror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Abolition of Feudalism</a:t>
            </a:r>
          </a:p>
          <a:p>
            <a:pPr/>
            <a:r>
              <a:t>Rise of Nationalism</a:t>
            </a:r>
          </a:p>
          <a:p>
            <a:pPr/>
            <a:r>
              <a:t>French Republic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Further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Source: Wikipedia article on the Storming of the Bastille</a:t>
            </a:r>
          </a:p>
          <a:p>
            <a:pPr/>
            <a:r>
              <a:t>Secondary Sources: Scholarly Texts and Books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