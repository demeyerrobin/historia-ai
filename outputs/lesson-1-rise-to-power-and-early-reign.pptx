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Lesson 1 - Rise to Power and Early Reign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Agentic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Context of the Iranian Monarchy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Pahlavi Dynasty</a:t>
            </a:r>
          </a:p>
          <a:p>
            <a:pPr/>
            <a:r>
              <a:t>Reza Shah</a:t>
            </a:r>
          </a:p>
          <a:p>
            <a:pPr/>
            <a:r>
              <a:t>1925</a:t>
            </a:r>
          </a:p>
          <a:p>
            <a:pPr/>
            <a:r>
              <a:t>Mohammad Reza Pahlavi</a:t>
            </a:r>
          </a:p>
          <a:p>
            <a:pPr/>
            <a:r>
              <a:t>1941</a:t>
            </a:r>
          </a:p>
          <a:p>
            <a:pPr/>
            <a:r>
              <a:t>Westernization</a:t>
            </a:r>
          </a:p>
          <a:p>
            <a:pPr/>
            <a:r>
              <a:t>White Revolution</a:t>
            </a:r>
          </a:p>
          <a:p>
            <a:pPr/>
            <a:r>
              <a:t>1963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1953 Coup D'état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U.S. CIA</a:t>
            </a:r>
          </a:p>
          <a:p>
            <a:pPr/>
            <a:r>
              <a:t>MI6</a:t>
            </a:r>
          </a:p>
          <a:p>
            <a:pPr/>
            <a:r>
              <a:t>Mohammad Mossadegh</a:t>
            </a:r>
          </a:p>
          <a:p>
            <a:pPr/>
            <a:r>
              <a:t>1953</a:t>
            </a:r>
          </a:p>
          <a:p>
            <a:pPr/>
            <a:r>
              <a:t>Anglo-Iranian Oil Company</a:t>
            </a:r>
          </a:p>
          <a:p>
            <a:pPr/>
            <a:r>
              <a:t>Absolute Monarch</a:t>
            </a:r>
          </a:p>
          <a:p>
            <a:pPr/>
            <a:r>
              <a:t>Western Influence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White Revolution and Its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1963</a:t>
            </a:r>
          </a:p>
          <a:p>
            <a:pPr/>
            <a:r>
              <a:t>Land Reforms</a:t>
            </a:r>
          </a:p>
          <a:p>
            <a:pPr/>
            <a:r>
              <a:t>Clergy</a:t>
            </a:r>
          </a:p>
          <a:p>
            <a:pPr/>
            <a:r>
              <a:t>Islamic Values</a:t>
            </a:r>
          </a:p>
          <a:p>
            <a:pPr/>
            <a:r>
              <a:t>Economic Conditions</a:t>
            </a:r>
          </a:p>
          <a:p>
            <a:pPr/>
            <a:r>
              <a:t>Social Discontent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Exile of Ruhollah Khomeini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1964</a:t>
            </a:r>
          </a:p>
          <a:p>
            <a:pPr/>
            <a:r>
              <a:t>Turkey</a:t>
            </a:r>
          </a:p>
          <a:p>
            <a:pPr/>
            <a:r>
              <a:t>Iraq</a:t>
            </a:r>
          </a:p>
          <a:p>
            <a:pPr/>
            <a:r>
              <a:t>Islamic State</a:t>
            </a:r>
          </a:p>
          <a:p>
            <a:pPr/>
            <a:r>
              <a:t>Theocratic Vision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Emergence of Anti-Government Sentiments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October 1977</a:t>
            </a:r>
          </a:p>
          <a:p>
            <a:pPr/>
            <a:r>
              <a:t>Protests</a:t>
            </a:r>
          </a:p>
          <a:p>
            <a:pPr/>
            <a:r>
              <a:t>Economic Grievances</a:t>
            </a:r>
          </a:p>
          <a:p>
            <a:pPr/>
            <a:r>
              <a:t>Political Repression</a:t>
            </a:r>
          </a:p>
          <a:p>
            <a:pPr/>
            <a:r>
              <a:t>Public Aspirations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Turning Point: The Cinema Rex Fire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August 1978</a:t>
            </a:r>
          </a:p>
          <a:p>
            <a:pPr/>
            <a:r>
              <a:t>Cinema Rex</a:t>
            </a:r>
          </a:p>
          <a:p>
            <a:pPr/>
            <a:r>
              <a:t>400 Deaths</a:t>
            </a:r>
          </a:p>
          <a:p>
            <a:pPr/>
            <a:r>
              <a:t>Secret Police</a:t>
            </a:r>
          </a:p>
          <a:p>
            <a:pPr/>
            <a:r>
              <a:t>SAVAK</a:t>
            </a:r>
          </a:p>
          <a:p>
            <a:pPr/>
            <a:r>
              <a:t>National Outrage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Final Days of the Monarchy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January 1979</a:t>
            </a:r>
          </a:p>
          <a:p>
            <a:pPr/>
            <a:r>
              <a:t>Regency Council</a:t>
            </a:r>
          </a:p>
          <a:p>
            <a:pPr/>
            <a:r>
              <a:t>Shapour Bakhtiar</a:t>
            </a:r>
          </a:p>
          <a:p>
            <a:pPr/>
            <a:r>
              <a:t>1 February 1979</a:t>
            </a:r>
          </a:p>
          <a:p>
            <a:pPr/>
            <a:r>
              <a:t>Ruhollah Khomeini</a:t>
            </a:r>
          </a:p>
          <a:p>
            <a:pPr/>
            <a:r>
              <a:t>Tehran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Fall of the Monarchy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 February 1979</a:t>
            </a:r>
          </a:p>
          <a:p>
            <a:pPr/>
            <a:r>
              <a:t>Islamic Republic</a:t>
            </a:r>
          </a:p>
          <a:p>
            <a:pPr/>
            <a:r>
              <a:t>Supreme Leader</a:t>
            </a:r>
          </a:p>
          <a:p>
            <a:pPr/>
            <a:r>
              <a:t>Ruhollah Khomeini</a:t>
            </a:r>
          </a:p>
          <a:p>
            <a:pPr/>
            <a:r>
              <a:t>98%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Post-Revolutionary Government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Corruption</a:t>
            </a:r>
          </a:p>
          <a:p>
            <a:pPr/>
            <a:r>
              <a:t>Repression</a:t>
            </a:r>
          </a:p>
          <a:p>
            <a:pPr/>
            <a:r>
              <a:t>Western Influence</a:t>
            </a:r>
          </a:p>
          <a:p>
            <a:pPr/>
            <a:r>
              <a:t>Islamic Republic</a:t>
            </a:r>
          </a:p>
          <a:p>
            <a:pPr/>
            <a:r>
              <a:t>Velâyat-e Faqih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Islamic Republic and Its Ideology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Anti-Western</a:t>
            </a:r>
          </a:p>
          <a:p>
            <a:pPr/>
            <a:r>
              <a:t>Shia Political Ascendancy</a:t>
            </a:r>
          </a:p>
          <a:p>
            <a:pPr/>
            <a:r>
              <a:t>Exporting Khomeinist Doctrines</a:t>
            </a:r>
          </a:p>
          <a:p>
            <a:pPr/>
            <a:r>
              <a:t>Sunni Influence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Khomeini in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Central Figure</a:t>
            </a:r>
          </a:p>
          <a:p>
            <a:pPr/>
            <a:r>
              <a:t>Opposition Groups</a:t>
            </a:r>
          </a:p>
          <a:p>
            <a:pPr/>
            <a:r>
              <a:t>Theocratic State</a:t>
            </a:r>
          </a:p>
          <a:p>
            <a:pPr/>
            <a:r>
              <a:t>Western Modernization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Impact of the 1979 Islamic Republic Referendum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March 1979</a:t>
            </a:r>
          </a:p>
          <a:p>
            <a:pPr/>
            <a:r>
              <a:t>98% Approval</a:t>
            </a:r>
          </a:p>
          <a:p>
            <a:pPr/>
            <a:r>
              <a:t>Shift to Islamic Republic</a:t>
            </a:r>
          </a:p>
          <a:p>
            <a:pPr/>
            <a:r>
              <a:t>End of Monarchy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Constitution of the Islamic Republic of Iran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December 1979</a:t>
            </a:r>
          </a:p>
          <a:p>
            <a:pPr/>
            <a:r>
              <a:t>Supreme Leader</a:t>
            </a:r>
          </a:p>
          <a:p>
            <a:pPr/>
            <a:r>
              <a:t>Political Order</a:t>
            </a:r>
          </a:p>
          <a:p>
            <a:pPr/>
            <a:r>
              <a:t>State Principles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Establishment of the Supreme 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December 1979</a:t>
            </a:r>
          </a:p>
          <a:p>
            <a:pPr/>
            <a:r>
              <a:t>Khomeini</a:t>
            </a:r>
          </a:p>
          <a:p>
            <a:pPr/>
            <a:r>
              <a:t>Supreme Power</a:t>
            </a:r>
          </a:p>
          <a:p>
            <a:pPr/>
            <a:r>
              <a:t>Authoritative Role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Supreme Leader in the Islamic Republic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Power</a:t>
            </a:r>
          </a:p>
          <a:p>
            <a:pPr/>
            <a:r>
              <a:t>Decision-Making</a:t>
            </a:r>
          </a:p>
          <a:p>
            <a:pPr/>
            <a:r>
              <a:t>Political, Economic, Social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 of Velâyat-e Faqih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Islamic Jurist</a:t>
            </a:r>
          </a:p>
          <a:p>
            <a:pPr/>
            <a:r>
              <a:t>Guardianship</a:t>
            </a:r>
          </a:p>
          <a:p>
            <a:pPr/>
            <a:r>
              <a:t>Theocratic State</a:t>
            </a:r>
          </a:p>
          <a:p>
            <a:pPr/>
            <a:r>
              <a:t>Religious Authority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Impact of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Shia Influence</a:t>
            </a:r>
          </a:p>
          <a:p>
            <a:pPr/>
            <a:r>
              <a:t>Arab World</a:t>
            </a:r>
          </a:p>
          <a:p>
            <a:pPr/>
            <a:r>
              <a:t>Sunni Challenge</a:t>
            </a:r>
          </a:p>
          <a:p>
            <a:pPr/>
            <a:r>
              <a:t>Iranian Ideology</a:t>
            </a:r>
          </a:p>
          <a:p>
            <a:pPr/>
            <a:r>
              <a:t>Western Tensions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Exile of the Shah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January 1979</a:t>
            </a:r>
          </a:p>
          <a:p>
            <a:pPr/>
            <a:r>
              <a:t>Western Support</a:t>
            </a:r>
          </a:p>
          <a:p>
            <a:pPr/>
            <a:r>
              <a:t>Modernization</a:t>
            </a:r>
          </a:p>
          <a:p>
            <a:pPr/>
            <a:r>
              <a:t>Last Monarch</a:t>
            </a:r>
          </a:p>
          <a:p>
            <a:pPr/>
            <a:r>
              <a:t>1979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Return of Khomeini and His Reception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February 1979</a:t>
            </a:r>
          </a:p>
          <a:p>
            <a:pPr/>
            <a:r>
              <a:t>Government Invitation</a:t>
            </a:r>
          </a:p>
          <a:p>
            <a:pPr/>
            <a:r>
              <a:t>Millions of Supporters</a:t>
            </a:r>
          </a:p>
          <a:p>
            <a:pPr/>
            <a:r>
              <a:t>Revolutionary Victory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Transition of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Supreme Leader</a:t>
            </a:r>
          </a:p>
          <a:p>
            <a:pPr/>
            <a:r>
              <a:t>Khomeini</a:t>
            </a:r>
          </a:p>
          <a:p>
            <a:pPr/>
            <a:r>
              <a:t>New Government</a:t>
            </a:r>
          </a:p>
          <a:p>
            <a:pPr/>
            <a:r>
              <a:t>Power Structure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Political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Islamic Republic</a:t>
            </a:r>
          </a:p>
          <a:p>
            <a:pPr/>
            <a:r>
              <a:t>Supreme Leader</a:t>
            </a:r>
          </a:p>
          <a:p>
            <a:pPr/>
            <a:r>
              <a:t>Velâyat-e Faqih</a:t>
            </a:r>
          </a:p>
          <a:p>
            <a:pPr/>
            <a:r>
              <a:t>Shia Theocracy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Role of the Supreme Leader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Highest Authority</a:t>
            </a:r>
          </a:p>
          <a:p>
            <a:pPr/>
            <a:r>
              <a:t>Decision-Making</a:t>
            </a:r>
          </a:p>
          <a:p>
            <a:pPr/>
            <a:r>
              <a:t>Political, Economic, Social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Concept of Velâyat-e Faqih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Islamic Jurist</a:t>
            </a:r>
          </a:p>
          <a:p>
            <a:pPr/>
            <a:r>
              <a:t>Guardianship</a:t>
            </a:r>
          </a:p>
          <a:p>
            <a:pPr/>
            <a:r>
              <a:t>Theocratic State</a:t>
            </a:r>
          </a:p>
          <a:p>
            <a:pPr/>
            <a:r>
              <a:t>Religious Authority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Global Impact of the Revolution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Shia Influence</a:t>
            </a:r>
          </a:p>
          <a:p>
            <a:pPr/>
            <a:r>
              <a:t>Arab World</a:t>
            </a:r>
          </a:p>
          <a:p>
            <a:pPr/>
            <a:r>
              <a:t>Sunni Challenge</a:t>
            </a:r>
          </a:p>
          <a:p>
            <a:pPr/>
            <a:r>
              <a:t>Iranian Ideology</a:t>
            </a:r>
          </a:p>
          <a:p>
            <a:pPr/>
            <a:r>
              <a:t>Western Tensions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Exile of the Shah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16 January 1979</a:t>
            </a:r>
          </a:p>
          <a:p>
            <a:pPr/>
            <a:r>
              <a:t>Western Support</a:t>
            </a:r>
          </a:p>
          <a:p>
            <a:pPr/>
            <a:r>
              <a:t>Modernization</a:t>
            </a:r>
          </a:p>
          <a:p>
            <a:pPr/>
            <a:r>
              <a:t>Last Monarch</a:t>
            </a:r>
          </a:p>
          <a:p>
            <a:pPr/>
            <a:r>
              <a:t>1979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Return of Khomeini and His Reception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 February 1979</a:t>
            </a:r>
          </a:p>
          <a:p>
            <a:pPr/>
            <a:r>
              <a:t>Government Invitation</a:t>
            </a:r>
          </a:p>
          <a:p>
            <a:pPr/>
            <a:r>
              <a:t>Millions of Supporters</a:t>
            </a:r>
          </a:p>
          <a:p>
            <a:pPr/>
            <a:r>
              <a:t>Revolutionary Victory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Transition of Power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Supreme Leader</a:t>
            </a:r>
          </a:p>
          <a:p>
            <a:pPr/>
            <a:r>
              <a:t>Khomeini</a:t>
            </a:r>
          </a:p>
          <a:p>
            <a:pPr/>
            <a:r>
              <a:t>New Government</a:t>
            </a:r>
          </a:p>
          <a:p>
            <a:pPr/>
            <a:r>
              <a:t>Power Structure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Political 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Islamic Republic</a:t>
            </a:r>
          </a:p>
          <a:p>
            <a:pPr/>
            <a:r>
              <a:t>Supreme Leader</a:t>
            </a:r>
          </a:p>
          <a:p>
            <a:pPr/>
            <a:r>
              <a:t>Velâyat-e Faqih</a:t>
            </a:r>
          </a:p>
          <a:p>
            <a:pPr/>
            <a:r>
              <a:t>Shia Theocracy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